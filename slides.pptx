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51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6213E"/>
                </a:solidFill>
              </a:defRPr>
            </a:pPr>
            <a:r>
              <a:t>基于代理辅助演化算法的</a:t>
            </a:r>
            <a:br/>
            <a:r>
              <a:t>建筑电磁窗口多目标优化设计研究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918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F3460"/>
                </a:solidFill>
              </a:defRPr>
            </a:pPr>
            <a:r>
              <a:t>从跨算法互证到 BO-LGBM 代理模型混合搜索框架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3891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77"/>
                </a:solidFill>
              </a:defRPr>
            </a:pPr>
            <a:r>
              <a:t>物理降噪 → 算法互证 → 代理模型 → 两阶段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669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77"/>
                </a:solidFill>
              </a:defRPr>
            </a:pPr>
            <a:r>
              <a:t>汇报人：成雨鸣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13E"/>
                </a:solidFill>
              </a:defRPr>
            </a:pPr>
            <a:r>
              <a:t>一、课题背景、数学模型与 KDE 网格积分等价性降噪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高频毫米波 O2I 穿透 Low-E 幕墙引入 20–30 dB 损耗。物理建模含：</a:t>
            </a:r>
            <a:br/>
            <a:r>
              <a:t>8 天线阵列均匀菲涅尔衍射信道 (LoS+NLoS)、人群 RWP 行为模型、</a:t>
            </a:r>
            <a:br/>
            <a:r>
              <a:t>四方向用户自阻塞模型。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3460"/>
                </a:solidFill>
              </a:defRPr>
            </a:pPr>
            <a:r>
              <a:rPr dirty="0"/>
              <a:t>θ = [x</a:t>
            </a:r>
            <a:r>
              <a:rPr lang="en-US" dirty="0"/>
              <a:t>c</a:t>
            </a:r>
            <a:r>
              <a:rPr dirty="0"/>
              <a:t>, </a:t>
            </a:r>
            <a:r>
              <a:rPr dirty="0" err="1"/>
              <a:t>z</a:t>
            </a:r>
            <a:r>
              <a:rPr lang="en-US" dirty="0" err="1"/>
              <a:t>c</a:t>
            </a:r>
            <a:r>
              <a:rPr dirty="0"/>
              <a:t>, L</a:t>
            </a:r>
            <a:r>
              <a:rPr lang="en-US" altLang="zh-CN" dirty="0"/>
              <a:t>x,</a:t>
            </a:r>
            <a:r>
              <a:rPr dirty="0"/>
              <a:t> </a:t>
            </a:r>
            <a:r>
              <a:rPr dirty="0" err="1"/>
              <a:t>L</a:t>
            </a:r>
            <a:r>
              <a:rPr lang="en-US" altLang="zh-CN" dirty="0" err="1"/>
              <a:t>z</a:t>
            </a:r>
            <a:r>
              <a:rPr dirty="0"/>
              <a:t>]ᵀ</a:t>
            </a:r>
            <a:br>
              <a:rPr dirty="0"/>
            </a:br>
            <a:r>
              <a:rPr dirty="0"/>
              <a:t>min f₁ = Area    min f₂ = Outage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</a:defRPr>
            </a:pPr>
            <a:r>
              <a:t>MATLAB 300s 短时 RWP → σ≈4.5% 噪声 → 早停。</a:t>
            </a:r>
            <a:br/>
            <a:r>
              <a:t>重构：200×200×5 确定性网格积分 (KDE)。</a:t>
            </a:r>
          </a:p>
        </p:txBody>
      </p:sp>
      <p:pic>
        <p:nvPicPr>
          <p:cNvPr id="6" name="Picture 5" descr="fig_exp1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02920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7490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</a:defRPr>
            </a:pPr>
            <a:r>
              <a:t>20,000s 时偏差仅 0.67%。100 组随机配置：</a:t>
            </a:r>
            <a:br/>
            <a:r>
              <a:t>MAE=1.22%, R²=0.9941 —— 数学确证等价。</a:t>
            </a:r>
          </a:p>
        </p:txBody>
      </p:sp>
      <p:pic>
        <p:nvPicPr>
          <p:cNvPr id="8" name="Picture 7" descr="fig_exp2_discrepa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389120"/>
            <a:ext cx="50292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13E"/>
                </a:solidFill>
              </a:defRPr>
            </a:pPr>
            <a:r>
              <a:t>二、多目标启发式算法体系与三大算法交叉互证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引入三种机制不同的启发性算法——NSGA-II (支配度)、AGE-MOEA (几何估计)、</a:t>
            </a:r>
            <a:br/>
            <a:r>
              <a:t>MOEA/D (标量化分解)——以排除单一算法局部最优的可能。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5943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tlCol="0" anchor="ctr"/>
          <a:lstStyle/>
          <a:p>
            <a:pPr algn="ctr">
              <a:defRPr sz="1100">
                <a:solidFill>
                  <a:srgbClr val="2D2D2D"/>
                </a:solidFill>
              </a:defRPr>
            </a:pPr>
            <a:r>
              <a:rPr dirty="0" err="1"/>
              <a:t>互证结论：三条独立路径收敛至同一流形，max</a:t>
            </a:r>
            <a:r>
              <a:rPr dirty="0"/>
              <a:t> Δ &lt; 3%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5943600" cy="3200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tlCol="0" anchor="ctr"/>
          <a:lstStyle/>
          <a:p>
            <a:pPr algn="ctr">
              <a:defRPr sz="1100">
                <a:solidFill>
                  <a:srgbClr val="2D2D2D"/>
                </a:solidFill>
              </a:defRPr>
            </a:pPr>
            <a:r>
              <a:t>≤10% 中断率约束下，关键 Knee 面积仅 1.646 m²</a:t>
            </a:r>
          </a:p>
        </p:txBody>
      </p:sp>
      <p:pic>
        <p:nvPicPr>
          <p:cNvPr id="6" name="Picture 5" descr="alg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3200400"/>
          </a:xfrm>
          <a:prstGeom prst="rect">
            <a:avLst/>
          </a:prstGeom>
        </p:spPr>
      </p:pic>
      <p:pic>
        <p:nvPicPr>
          <p:cNvPr id="7" name="Picture 6" descr="viz_wall_can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0"/>
            <a:ext cx="2560320" cy="1645920"/>
          </a:xfrm>
          <a:prstGeom prst="rect">
            <a:avLst/>
          </a:prstGeom>
        </p:spPr>
      </p:pic>
      <p:pic>
        <p:nvPicPr>
          <p:cNvPr id="8" name="Picture 7" descr="viz_parallel_co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017520"/>
            <a:ext cx="292608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</a:defRPr>
            </a:pPr>
            <a:r>
              <a:t>Panichella, A. (2019). An adaptive evolutionary algorithm based on non-Euclidean geometry for many-objective optimization. GECCO 2019.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13E"/>
                </a:solidFill>
              </a:defRPr>
            </a:pPr>
            <a:r>
              <a:t>三、帕累托解集形态特征与拓扑突变简析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Knee 解规律：xc≈5.26, zc≈1.29 精确收敛于衍射+KDE质心。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</a:defRPr>
            </a:pPr>
            <a:r>
              <a:t>Knee Jump (~9.7%) — 正交轴向転置</a:t>
            </a:r>
            <a:br/>
            <a:r>
              <a:t>  Lz 0.54→0.20m (−63%), 触及衍射下限;</a:t>
            </a:r>
            <a:br/>
            <a:r>
              <a:t>  Lx 7.32→9.31m (+27%), 水平补偿。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</a:defRPr>
            </a:pPr>
            <a:r>
              <a:t>Jump B (~13.0%) — 单轴极限压缩</a:t>
            </a:r>
            <a:br/>
            <a:r>
              <a:t>  Lz 锁定, Lx 2.22→0.15m (−93%),</a:t>
            </a:r>
            <a:br/>
            <a:r>
              <a:t>  窗口退化为狭缝波导机构。</a:t>
            </a:r>
          </a:p>
        </p:txBody>
      </p:sp>
      <p:pic>
        <p:nvPicPr>
          <p:cNvPr id="6" name="Picture 5" descr="jump_wall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13E"/>
                </a:solidFill>
              </a:defRPr>
            </a:pPr>
            <a:r>
              <a:t>四、BO-LGBM 物理代理模型构建与高精度流形验证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</a:defRPr>
            </a:pPr>
            <a:r>
              <a:t>混合数据集：5,000 LHS + 300 真实 Pareto + 2,000 边界过采样 = 7,300 样本</a:t>
            </a:r>
            <a:br/>
            <a:r>
              <a:t>LightGBM（树分裂天然适配 sinc 非连续响应面）</a:t>
            </a:r>
            <a:br/>
            <a:r>
              <a:t>Optuna 50 轮 / 5-Fold CV / feasible-MAE 为目标</a:t>
            </a:r>
            <a:br/>
            <a:r>
              <a:t>交叉切片验证：以 Knee 为锚, 4D 各扫 60 步, 模型与物理紧密贴合</a:t>
            </a:r>
          </a:p>
        </p:txBody>
      </p:sp>
      <p:pic>
        <p:nvPicPr>
          <p:cNvPr id="4" name="Picture 3" descr="validation_swe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754880" cy="3200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47472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阈值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Feasible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HV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&lt; 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IGD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0.0120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&lt; 0.05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13E"/>
                </a:solidFill>
              </a:defRPr>
            </a:pPr>
            <a:r>
              <a:t>五、两阶段 Warm-Start 混合最优化框架设计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代理悖论：全局 MAE 0.5%, 但树模型在可行域边界过光滑 → 局部系统性偏差。</a:t>
            </a:r>
            <a:br/>
            <a:r>
              <a:t>纯代理 Knee 1.755 m², 偏离物理真值 1.646 m² 达 6.7%。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4114800" cy="10972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200" b="1">
                <a:solidFill>
                  <a:srgbClr val="16213E"/>
                </a:solidFill>
              </a:defRPr>
            </a:pPr>
            <a:r>
              <a:t>Phase 1 — 代理粗筛</a:t>
            </a:r>
          </a:p>
          <a:p>
            <a:pPr>
              <a:defRPr sz="1000">
                <a:solidFill>
                  <a:srgbClr val="2D2D2D"/>
                </a:solidFill>
              </a:defRPr>
            </a:pPr>
            <a:r>
              <a:t>NSGA-II 在 LGBM 上 200 代 (12s)。剪除 90% 不可行空间, 输出 300 个近似 Pareto 候选。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5760720" y="2560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3460"/>
                </a:solidFill>
              </a:defRPr>
            </a:pPr>
            <a:r>
              <a:rPr dirty="0"/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286000"/>
            <a:ext cx="4114800" cy="10972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rIns="101600" rtlCol="0" anchor="ctr"/>
          <a:lstStyle/>
          <a:p>
            <a:pPr algn="ctr">
              <a:defRPr sz="1200" b="1">
                <a:solidFill>
                  <a:srgbClr val="16213E"/>
                </a:solidFill>
              </a:defRPr>
            </a:pPr>
            <a:r>
              <a:t>Phase 2 — 物理精炼</a:t>
            </a:r>
          </a:p>
          <a:p>
            <a:pPr>
              <a:defRPr sz="1000">
                <a:solidFill>
                  <a:srgbClr val="2D2D2D"/>
                </a:solidFill>
              </a:defRPr>
            </a:pPr>
            <a:r>
              <a:t>250 精英 + 50 随机混合注入（防止种群退化），物理 AGE-MOEA / NSGA-II 仅跑 20 代在线精炼，校正局部偏误。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</a:defRPr>
            </a:pPr>
            <a:r>
              <a:t>Shen, Y. &amp; Pan, Y. (2023). BIM-supported energy performance analysis using explainable ML and multi-objective optimization. Applied Energy, 333, 120575.</a:t>
            </a:r>
            <a:br/>
            <a:r>
              <a:t>Panichella, A. (2022). Improved Pareto front modeling for large-scale many-objective optimization. GECCO 2022, 565–573.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13E"/>
                </a:solidFill>
              </a:defRPr>
            </a:pPr>
            <a:r>
              <a:t>六、消融分析：基因多样性消融与边界约束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</a:defRPr>
            </a:pPr>
            <a:r>
              <a:t>基因多样性消融：纯物理迭代 (深蓝线) 缓慢下降收敛；Warm-Start 管线 (黄、绿线) 从 gen 0 起 σ 即收缩至极小值——AI 先验知识在演化启动前已剪除冗余搜索空间。</a:t>
            </a:r>
          </a:p>
        </p:txBody>
      </p:sp>
      <p:pic>
        <p:nvPicPr>
          <p:cNvPr id="4" name="Picture 3" descr="angle1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45720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</a:defRPr>
            </a:pPr>
            <a:r>
              <a:t>约束违规率拦截：纯物理 NSGA-II 早期违规率高达 60–70%，大量交叉子代越界造成无效算力损耗。Warm-Start 自 gen 0 起违规率趋近于 0——LGBM 离线已将硬性边界约束固化为不可违反的判定规则。</a:t>
            </a:r>
          </a:p>
        </p:txBody>
      </p:sp>
      <p:pic>
        <p:nvPicPr>
          <p:cNvPr id="6" name="Picture 5" descr="angle3_vio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45720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13E"/>
                </a:solidFill>
              </a:defRPr>
            </a:pPr>
            <a:r>
              <a:t>七、四条技术路线 Pareto Front 比较与场景抉择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943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Knee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Pure 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217s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1.646 m²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Pure Surrogate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1.755 m²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Dual NSGA-II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1.692 m²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Dual AGE-MOEA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84s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1.658 m²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</a:defRPr>
            </a:pPr>
            <a:r>
              <a:t>深蓝（物理真值）、红（纯代理）、绿（Dual NSGA2）、橙（Dual AGE）。</a:t>
            </a:r>
            <a:br/>
            <a:r>
              <a:t>Dual AGE-MOEA 面积仅偏离 ground truth 0.7%, 物理评估次数削减 90%。</a:t>
            </a:r>
            <a:br/>
            <a:r>
              <a:t>纯代理 (12s) 和 Dual NSGA-II (45s) 为算力受限场景下的高性价比备选。</a:t>
            </a:r>
          </a:p>
        </p:txBody>
      </p:sp>
      <p:pic>
        <p:nvPicPr>
          <p:cNvPr id="5" name="Picture 4" descr="angle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754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13E"/>
                </a:solidFill>
              </a:defRPr>
            </a:pPr>
            <a:r>
              <a:t>八、全链路工作流闭环总复盘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物理网格化降噪 (→S2)：消除轨迹随机抖动，R²=0.9941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三算法机制互证 (→S3)：独立路径收敛至同一前沿，max Δ&lt;3%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拓扑特征解耦 (→S4)：Knee Jump (正交転置) + Jump B (单轴压缩)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代理平替与流形验证 (→S5)：R²=0.995, IGD=0.0120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两阶段混合管线落地 (→S6-8)：12s 离线剪枝 + 20 代精炼，90% 算力节省, 0.7% 逼近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213E"/>
                </a:solidFill>
              </a:defRPr>
            </a:pPr>
            <a:r>
              <a:t>九、多路线试错负结果与全局收敛边界的确证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9601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失败原因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RBF 局部精炼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30/300/500 点三版迭代无一改进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置信域序列优化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 轮 FAILURE, 半径砍至 1.25%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Ridge+LGBM Stacking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全局 MAE 优化但 Knee 劣化 1.66→1.73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GP+LGBM Stacking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O(n³) 算力限制, feasible MAE 退化至 1.04%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200400"/>
            <a:ext cx="105156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四项进阶技术路线均未突破当前 Pipeline 的最优解——这并非方法缺陷，而是物理空间本身的约束极限。</a:t>
            </a:r>
          </a:p>
          <a:p>
            <a:br/>
            <a:r>
              <a:t>负结果从反面构成了逻辑闭环：</a:t>
            </a:r>
            <a:br/>
            <a:r>
              <a:t>BO-LGBM 两阶段 Warm-Start 混合管线已探明该电磁约束下的全局收敛上界。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695</Words>
  <Application>Microsoft Office PowerPoint</Application>
  <PresentationFormat>宽屏</PresentationFormat>
  <Paragraphs>84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Yuming Cheng</cp:lastModifiedBy>
  <cp:revision>2</cp:revision>
  <dcterms:created xsi:type="dcterms:W3CDTF">2013-01-27T09:14:16Z</dcterms:created>
  <dcterms:modified xsi:type="dcterms:W3CDTF">2026-07-06T05:30:50Z</dcterms:modified>
  <cp:category/>
</cp:coreProperties>
</file>